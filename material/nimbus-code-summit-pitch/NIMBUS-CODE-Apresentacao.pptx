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</a:rPr>
              <a:t>13 ideias reais transformadas em entregas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Ideias (número real)</c:v>
                </c:pt>
              </c:strCache>
            </c:strRef>
          </c:tx>
          <c:dPt>
            <c:idx val="0"/>
            <c:spPr>
              <a:solidFill>
                <a:srgbClr val="E89B2E"/>
              </a:solidFill>
            </c:spPr>
          </c:dPt>
          <c:dPt>
            <c:idx val="1"/>
            <c:spPr>
              <a:solidFill>
                <a:srgbClr val="3DB86A"/>
              </a:solidFill>
            </c:spPr>
          </c:dPt>
          <c:dPt>
            <c:idx val="2"/>
            <c:spPr>
              <a:solidFill>
                <a:srgbClr val="34C7C7"/>
              </a:solidFill>
            </c:spPr>
          </c:dPt>
          <c:cat>
            <c:strRef>
              <c:f>Sheet1!$A$2:$A$4</c:f>
              <c:strCache>
                <c:ptCount val="3"/>
                <c:pt idx="0">
                  <c:v>Em planejamento</c:v>
                </c:pt>
                <c:pt idx="1">
                  <c:v>Já em execução
(virou tarefa)</c:v>
                </c:pt>
                <c:pt idx="2">
                  <c:v>Prontas, aguardando
revisão final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>
              <a:solidFill>
                <a:srgbClr val="E8EEF7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50" b="1">
                <a:solidFill>
                  <a:srgbClr val="FFFFFF"/>
                </a:solidFill>
              </a:rPr>
              <a:t>136 itens de trabalho — backlog totalmente organizado e priorizado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Itens de trabalho</c:v>
                </c:pt>
              </c:strCache>
            </c:strRef>
          </c:tx>
          <c:dPt>
            <c:idx val="0"/>
            <c:spPr>
              <a:solidFill>
                <a:srgbClr val="3DB86A"/>
              </a:solidFill>
            </c:spPr>
          </c:dPt>
          <c:dPt>
            <c:idx val="1"/>
            <c:spPr>
              <a:solidFill>
                <a:srgbClr val="E89B2E"/>
              </a:solidFill>
            </c:spPr>
          </c:dPt>
          <c:cat>
            <c:strRef>
              <c:f>Sheet1!$A$2:$A$3</c:f>
              <c:strCache>
                <c:ptCount val="2"/>
                <c:pt idx="0">
                  <c:v>Organizadas</c:v>
                </c:pt>
                <c:pt idx="1">
                  <c:v>Pendente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135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8EEF7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3840480" cy="109728"/>
          </a:xfrm>
          <a:prstGeom prst="rect">
            <a:avLst/>
          </a:prstGeom>
          <a:solidFill>
            <a:srgbClr val="3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egoe UI"/>
              </a:rPr>
              <a:t>NIMBUS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E8EEF7"/>
                </a:solidFill>
                <a:latin typeface="Segoe UI"/>
              </a:rPr>
              <a:t>Da ideia ao código funcionando — com IA supervisionada por humano,</a:t>
            </a:r>
          </a:p>
          <a:p>
            <a:pPr algn="l"/>
            <a:r>
              <a:rPr sz="2200" b="0" i="0">
                <a:solidFill>
                  <a:srgbClr val="E8EEF7"/>
                </a:solidFill>
                <a:latin typeface="Segoe UI"/>
              </a:rPr>
              <a:t>direto no GitHub que seu time já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34C7C7"/>
                </a:solidFill>
                <a:latin typeface="Segoe UI"/>
              </a:rPr>
              <a:t>Apresentação de Produto — Microsoft Summit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72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A94A6"/>
                </a:solidFill>
                <a:latin typeface="Segoe UI"/>
              </a:rPr>
              <a:t>Baseado em GitHub Spec-Kit + GitHub Copilot + GitHub Enterprise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914400"/>
            <a:ext cx="164592" cy="164592"/>
          </a:xfrm>
          <a:prstGeom prst="ellipse">
            <a:avLst/>
          </a:prstGeom>
          <a:solidFill>
            <a:srgbClr val="3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006840" y="1371600"/>
            <a:ext cx="164592" cy="164592"/>
          </a:xfrm>
          <a:prstGeom prst="ellipse">
            <a:avLst/>
          </a:prstGeom>
          <a:solidFill>
            <a:srgbClr val="2B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0" y="914400"/>
            <a:ext cx="164592" cy="164592"/>
          </a:xfrm>
          <a:prstGeom prst="ellipse">
            <a:avLst/>
          </a:prstGeom>
          <a:solidFill>
            <a:srgbClr val="3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2680" y="1371600"/>
            <a:ext cx="164592" cy="164592"/>
          </a:xfrm>
          <a:prstGeom prst="ellipse">
            <a:avLst/>
          </a:prstGeom>
          <a:solidFill>
            <a:srgbClr val="2B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914400"/>
            <a:ext cx="164592" cy="164592"/>
          </a:xfrm>
          <a:prstGeom prst="ellipse">
            <a:avLst/>
          </a:prstGeom>
          <a:solidFill>
            <a:srgbClr val="34C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4C7C7"/>
                </a:solidFill>
                <a:latin typeface="Segoe U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Adotar IA generativa em escala sem governança gera risco, custo oculto e conhecimento perdido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29000" cy="21488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500" b="1">
                <a:solidFill>
                  <a:srgbClr val="0B1E3D"/>
                </a:solidFill>
                <a:latin typeface="Segoe UI"/>
              </a:rPr>
              <a:t>Sem trilha de auditoria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333D4D"/>
                </a:solidFill>
                <a:latin typeface="Segoe UI"/>
              </a:rPr>
              <a:t>Agentes autônomos alteram código fora do escopo, sem revisão clara nem rastreabilidade de decisão.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17320"/>
            <a:ext cx="3429000" cy="21488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500" b="1">
                <a:solidFill>
                  <a:srgbClr val="0B1E3D"/>
                </a:solidFill>
                <a:latin typeface="Segoe UI"/>
              </a:rPr>
              <a:t>Custo de IA sem critério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333D4D"/>
                </a:solidFill>
                <a:latin typeface="Segoe UI"/>
              </a:rPr>
              <a:t>Modelo mais caro usado para qualquer tarefa, da correção trivial à arquitetura crítica.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17320"/>
            <a:ext cx="3429000" cy="21488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500" b="1">
                <a:solidFill>
                  <a:srgbClr val="0B1E3D"/>
                </a:solidFill>
                <a:latin typeface="Segoe UI"/>
              </a:rPr>
              <a:t>Conhecimento se perde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333D4D"/>
                </a:solidFill>
                <a:latin typeface="Segoe UI"/>
              </a:rPr>
              <a:t>O mesmo erro se repete; soluções já resolvidas são reinventadas a cada nova sessão.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29000" cy="21488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500" b="1">
                <a:solidFill>
                  <a:srgbClr val="0B1E3D"/>
                </a:solidFill>
                <a:latin typeface="Segoe UI"/>
              </a:rPr>
              <a:t>Backlog sem hierarquia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333D4D"/>
                </a:solidFill>
                <a:latin typeface="Segoe UI"/>
              </a:rPr>
              <a:t>Centenas de itens de trabalho no GitHub sem estrutura clara de prioridade e responsabilidade.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703320"/>
            <a:ext cx="3429000" cy="21488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500" b="1">
                <a:solidFill>
                  <a:srgbClr val="0B1E3D"/>
                </a:solidFill>
                <a:latin typeface="Segoe UI"/>
              </a:rPr>
              <a:t>Risco de compliance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333D4D"/>
                </a:solidFill>
                <a:latin typeface="Segoe UI"/>
              </a:rPr>
              <a:t>Sem guardrails, agentes podem pular verificações de segurança (segredos, backup, criptografia).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703320"/>
            <a:ext cx="3429000" cy="214884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500" b="1">
                <a:solidFill>
                  <a:srgbClr val="0B1E3D"/>
                </a:solidFill>
                <a:latin typeface="Segoe UI"/>
              </a:rPr>
              <a:t>ROI difícil de medir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333D4D"/>
                </a:solidFill>
                <a:latin typeface="Segoe UI"/>
              </a:rPr>
              <a:t>Custo de IA e horas humanas não são rastreados lado a lado.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NIMBUS CODE — Governança de IA + Humano no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A94A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4C7C7"/>
                </a:solidFill>
                <a:latin typeface="Segoe UI"/>
              </a:rP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Da ideia ao código funcionando em 5 passos — a IA executa, o humano sempre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149388" cy="2331720"/>
          </a:xfrm>
          <a:prstGeom prst="roundRect">
            <a:avLst/>
          </a:prstGeom>
          <a:solidFill>
            <a:srgbClr val="E8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46304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FFFFFF"/>
                </a:solidFill>
                <a:latin typeface="Segoe UI"/>
              </a:rPr>
              <a:t>Você descreve</a:t>
            </a:r>
            <a:br/>
            <a:r>
              <a:t>o que quer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Em linguagem natural, sem escrever código nem jargão técnico</a:t>
            </a:r>
          </a:p>
          <a:p>
            <a:pPr algn="ctr">
              <a:spcBef>
                <a:spcPts val="1000"/>
              </a:spcBef>
            </a:pPr>
            <a:r>
              <a:rPr sz="1000" b="1">
                <a:solidFill>
                  <a:srgbClr val="0B1E3D"/>
                </a:solidFill>
                <a:latin typeface="Segoe UI"/>
              </a:rPr>
              <a:t>HUMANO</a:t>
            </a:r>
          </a:p>
        </p:txBody>
      </p:sp>
      <p:sp>
        <p:nvSpPr>
          <p:cNvPr id="7" name="Chevron 6"/>
          <p:cNvSpPr/>
          <p:nvPr/>
        </p:nvSpPr>
        <p:spPr>
          <a:xfrm>
            <a:off x="2661452" y="2747772"/>
            <a:ext cx="109728" cy="219456"/>
          </a:xfrm>
          <a:prstGeom prst="chevron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2036" y="1691640"/>
            <a:ext cx="2149388" cy="2331720"/>
          </a:xfrm>
          <a:prstGeom prst="roundRect">
            <a:avLst/>
          </a:prstGeom>
          <a:solidFill>
            <a:srgbClr val="2B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46304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FFFFFF"/>
                </a:solidFill>
                <a:latin typeface="Segoe UI"/>
              </a:rPr>
              <a:t>A IA monta</a:t>
            </a:r>
            <a:br/>
            <a:r>
              <a:t>o plano técnico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Arquitetura, riscos e o que precisa ser testado — pronto para revisão</a:t>
            </a:r>
          </a:p>
          <a:p>
            <a:pPr algn="ctr">
              <a:spcBef>
                <a:spcPts val="1000"/>
              </a:spcBef>
            </a:pPr>
            <a:r>
              <a:rPr sz="1000" b="1">
                <a:solidFill>
                  <a:srgbClr val="D8E6FF"/>
                </a:solidFill>
                <a:latin typeface="Segoe UI"/>
              </a:rPr>
              <a:t>IA</a:t>
            </a:r>
          </a:p>
        </p:txBody>
      </p:sp>
      <p:sp>
        <p:nvSpPr>
          <p:cNvPr id="9" name="Chevron 8"/>
          <p:cNvSpPr/>
          <p:nvPr/>
        </p:nvSpPr>
        <p:spPr>
          <a:xfrm>
            <a:off x="4920568" y="2747772"/>
            <a:ext cx="109728" cy="219456"/>
          </a:xfrm>
          <a:prstGeom prst="chevron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1152" y="1691640"/>
            <a:ext cx="2149388" cy="2331720"/>
          </a:xfrm>
          <a:prstGeom prst="roundRect">
            <a:avLst/>
          </a:prstGeom>
          <a:solidFill>
            <a:srgbClr val="2B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46304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FFFFFF"/>
                </a:solidFill>
                <a:latin typeface="Segoe UI"/>
              </a:rPr>
              <a:t>A IA quebra em</a:t>
            </a:r>
            <a:br/>
            <a:r>
              <a:t>tarefas executáveis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Checklist claro e priorizado — nada fica ambíguo</a:t>
            </a:r>
          </a:p>
          <a:p>
            <a:pPr algn="ctr">
              <a:spcBef>
                <a:spcPts val="1000"/>
              </a:spcBef>
            </a:pPr>
            <a:r>
              <a:rPr sz="1000" b="1">
                <a:solidFill>
                  <a:srgbClr val="D8E6FF"/>
                </a:solidFill>
                <a:latin typeface="Segoe UI"/>
              </a:rPr>
              <a:t>IA</a:t>
            </a:r>
          </a:p>
        </p:txBody>
      </p:sp>
      <p:sp>
        <p:nvSpPr>
          <p:cNvPr id="11" name="Chevron 10"/>
          <p:cNvSpPr/>
          <p:nvPr/>
        </p:nvSpPr>
        <p:spPr>
          <a:xfrm>
            <a:off x="7179684" y="2747772"/>
            <a:ext cx="109728" cy="219456"/>
          </a:xfrm>
          <a:prstGeom prst="chevron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80268" y="1691640"/>
            <a:ext cx="2149388" cy="2331720"/>
          </a:xfrm>
          <a:prstGeom prst="roundRect">
            <a:avLst/>
          </a:prstGeom>
          <a:solidFill>
            <a:srgbClr val="2B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46304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FFFFFF"/>
                </a:solidFill>
                <a:latin typeface="Segoe UI"/>
              </a:rPr>
              <a:t>A IA escreve o</a:t>
            </a:r>
            <a:br/>
            <a:r>
              <a:t>código e abre o PR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Pull Request pronto, testado e documentado — nunca direto em produção</a:t>
            </a:r>
          </a:p>
          <a:p>
            <a:pPr algn="ctr">
              <a:spcBef>
                <a:spcPts val="1000"/>
              </a:spcBef>
            </a:pPr>
            <a:r>
              <a:rPr sz="1000" b="1">
                <a:solidFill>
                  <a:srgbClr val="D8E6FF"/>
                </a:solidFill>
                <a:latin typeface="Segoe UI"/>
              </a:rPr>
              <a:t>IA</a:t>
            </a:r>
          </a:p>
        </p:txBody>
      </p:sp>
      <p:sp>
        <p:nvSpPr>
          <p:cNvPr id="13" name="Chevron 12"/>
          <p:cNvSpPr/>
          <p:nvPr/>
        </p:nvSpPr>
        <p:spPr>
          <a:xfrm>
            <a:off x="9438800" y="2747772"/>
            <a:ext cx="109728" cy="219456"/>
          </a:xfrm>
          <a:prstGeom prst="chevron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9384" y="1691640"/>
            <a:ext cx="2149388" cy="2331720"/>
          </a:xfrm>
          <a:prstGeom prst="roundRect">
            <a:avLst/>
          </a:prstGeom>
          <a:solidFill>
            <a:srgbClr val="E89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46304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  <a:p>
            <a:pPr algn="ctr">
              <a:spcBef>
                <a:spcPts val="400"/>
              </a:spcBef>
            </a:pPr>
            <a:r>
              <a:rPr sz="1350" b="1">
                <a:solidFill>
                  <a:srgbClr val="FFFFFF"/>
                </a:solidFill>
                <a:latin typeface="Segoe UI"/>
              </a:rPr>
              <a:t>Você revisa</a:t>
            </a:r>
            <a:br/>
            <a:r>
              <a:t>e aprova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FFFFFF"/>
                </a:solidFill>
                <a:latin typeface="Segoe UI"/>
              </a:rPr>
              <a:t>Nada vai ao ar sem revisão humana — sempre</a:t>
            </a:r>
          </a:p>
          <a:p>
            <a:pPr algn="ctr">
              <a:spcBef>
                <a:spcPts val="1000"/>
              </a:spcBef>
            </a:pPr>
            <a:r>
              <a:rPr sz="1000" b="1">
                <a:solidFill>
                  <a:srgbClr val="0B1E3D"/>
                </a:solidFill>
                <a:latin typeface="Segoe UI"/>
              </a:rPr>
              <a:t>HUMANO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333D4D"/>
                </a:solidFill>
                <a:latin typeface="Segoe UI"/>
              </a:rPr>
              <a:t>O resultado: o que hoje leva dias de várias idas e vindas vira um ciclo contínuo,</a:t>
            </a:r>
          </a:p>
          <a:p>
            <a:pPr algn="ctr"/>
            <a:r>
              <a:rPr sz="1400" b="0" i="1">
                <a:solidFill>
                  <a:srgbClr val="333D4D"/>
                </a:solidFill>
                <a:latin typeface="Segoe UI"/>
              </a:rPr>
              <a:t>sempre com um Pull Request revisável no final — nunca uma caixa-preta.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3611880" cy="141732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200">
                <a:solidFill>
                  <a:srgbClr val="0B1E3D"/>
                </a:solidFill>
                <a:latin typeface="Segoe UI"/>
              </a:rPr>
              <a:t>IA nunca faz merge sozinha — sempre um Pull Request esperando aprovação humana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892040"/>
            <a:ext cx="3611880" cy="141732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200">
                <a:solidFill>
                  <a:srgbClr val="0B1E3D"/>
                </a:solidFill>
                <a:latin typeface="Segoe UI"/>
              </a:rPr>
              <a:t>Cada entrega registra o que já deu certo antes e evita repetir o que deu errado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892040"/>
            <a:ext cx="3611880" cy="1417320"/>
          </a:xfrm>
          <a:prstGeom prst="roundRect">
            <a:avLst/>
          </a:prstGeom>
          <a:solidFill>
            <a:srgbClr val="E8EEF7"/>
          </a:solidFill>
          <a:ln w="9525">
            <a:solidFill>
              <a:srgbClr val="C7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200">
                <a:solidFill>
                  <a:srgbClr val="0B1E3D"/>
                </a:solidFill>
                <a:latin typeface="Segoe UI"/>
              </a:rPr>
              <a:t>O esforço de IA se ajusta ao tamanho da tarefa — nada de usar um canhão para matar mosca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NIMBUS CODE — Governança de IA + Humano no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A94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4C7C7"/>
                </a:solidFill>
                <a:latin typeface="Segoe UI"/>
              </a:rPr>
              <a:t>PROVA REAL — DADOS DO PROJETO EM 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E8EEF7"/>
                </a:solidFill>
                <a:latin typeface="Segoe UI"/>
              </a:rPr>
              <a:t>Números extraídos ao vivo do repositório nimbus-code-spec-kit-template (2026-08-20)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06040" cy="1371600"/>
          </a:xfrm>
          <a:prstGeom prst="roundRect">
            <a:avLst/>
          </a:prstGeom>
          <a:solidFill>
            <a:srgbClr val="152A52"/>
          </a:solidFill>
          <a:ln w="12700">
            <a:solidFill>
              <a:srgbClr val="2B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4C7C7"/>
                </a:solidFill>
                <a:latin typeface="Segoe UI"/>
              </a:rPr>
              <a:t>13</a:t>
            </a:r>
          </a:p>
          <a:p>
            <a:pPr algn="ctr"/>
            <a:r>
              <a:rPr sz="1100">
                <a:solidFill>
                  <a:srgbClr val="E8EEF7"/>
                </a:solidFill>
                <a:latin typeface="Segoe UI"/>
              </a:rPr>
              <a:t>ideias transformadas</a:t>
            </a:r>
            <a:br/>
            <a:r>
              <a:t>em planos técnicos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280160"/>
            <a:ext cx="2606040" cy="1371600"/>
          </a:xfrm>
          <a:prstGeom prst="roundRect">
            <a:avLst/>
          </a:prstGeom>
          <a:solidFill>
            <a:srgbClr val="152A52"/>
          </a:solidFill>
          <a:ln w="12700">
            <a:solidFill>
              <a:srgbClr val="2B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4C7C7"/>
                </a:solidFill>
                <a:latin typeface="Segoe UI"/>
              </a:rPr>
              <a:t>136</a:t>
            </a:r>
          </a:p>
          <a:p>
            <a:pPr algn="ctr"/>
            <a:r>
              <a:rPr sz="1100">
                <a:solidFill>
                  <a:srgbClr val="E8EEF7"/>
                </a:solidFill>
                <a:latin typeface="Segoe UI"/>
              </a:rPr>
              <a:t>itens de trabalho</a:t>
            </a:r>
            <a:br/>
            <a:r>
              <a:t>organizados e rastreáveis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1280160"/>
            <a:ext cx="2606040" cy="1371600"/>
          </a:xfrm>
          <a:prstGeom prst="roundRect">
            <a:avLst/>
          </a:prstGeom>
          <a:solidFill>
            <a:srgbClr val="152A52"/>
          </a:solidFill>
          <a:ln w="12700">
            <a:solidFill>
              <a:srgbClr val="2B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4C7C7"/>
                </a:solidFill>
                <a:latin typeface="Segoe UI"/>
              </a:rPr>
              <a:t>99%</a:t>
            </a:r>
          </a:p>
          <a:p>
            <a:pPr algn="ctr"/>
            <a:r>
              <a:rPr sz="1100">
                <a:solidFill>
                  <a:srgbClr val="E8EEF7"/>
                </a:solidFill>
                <a:latin typeface="Segoe UI"/>
              </a:rPr>
              <a:t>do backlog totalmente</a:t>
            </a:r>
            <a:br/>
            <a:r>
              <a:t>organizado e priorizado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0536" y="1280160"/>
            <a:ext cx="2606040" cy="1371600"/>
          </a:xfrm>
          <a:prstGeom prst="roundRect">
            <a:avLst/>
          </a:prstGeom>
          <a:solidFill>
            <a:srgbClr val="152A52"/>
          </a:solidFill>
          <a:ln w="12700">
            <a:solidFill>
              <a:srgbClr val="2B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4C7C7"/>
                </a:solidFill>
                <a:latin typeface="Segoe UI"/>
              </a:rPr>
              <a:t>v1.9.0</a:t>
            </a:r>
          </a:p>
          <a:p>
            <a:pPr algn="ctr"/>
            <a:r>
              <a:rPr sz="1100">
                <a:solidFill>
                  <a:srgbClr val="E8EEF7"/>
                </a:solidFill>
                <a:latin typeface="Segoe UI"/>
              </a:rPr>
              <a:t>versão do produto</a:t>
            </a:r>
            <a:br/>
            <a:r>
              <a:t>já publicada e em uso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880360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09360" y="2880360"/>
          <a:ext cx="539496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34C7C7"/>
                </a:solidFill>
                <a:latin typeface="Segoe UI"/>
              </a:rPr>
              <a:t>“NIMBUS CODE não é sobre fazer a IA escrever código mais rápido — é sobre a empresa conseguir confiar, auditar e medir o que os agentes de IA estão entregando.”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Segoe UI"/>
              </a:rPr>
              <a:t>NIMBUS CODE — Governança de IA + Humano no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8A94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